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svg" ContentType="image/svg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918573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19087821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1731367078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94222323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793404035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31876931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605595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6534288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858752245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7585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5240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44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085DAB-4E71-C5DF-EA07-4ADB7F0C6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693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97255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9169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EB311A-296C-B147-59A3-3FA84182EB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5537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0604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5422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4FD0B8-E28C-EF03-EA4F-8A948DE26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237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0494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6466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770FFC-8A4A-B04D-C0FD-E5785039E3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9017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39787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31583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4A19F3-1D47-C2A3-2F50-C02134AE6B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0035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084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988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A74889-CB22-F0A6-89D4-6E675AE2F2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5451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22791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15239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8F0ECC-DD33-0285-1D8A-696D35BE03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4058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4565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787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5C84B4-004C-8C27-04FB-2E086BB079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8333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55423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6965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EB384C-493F-F3B0-E281-70FE8AA48B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346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852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1509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0936B7-C343-216F-7C54-DAA682841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4809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0212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402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660216-2537-DEE8-E39F-2DD4D2404C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4389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0184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521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B11772-C80B-1A99-CC9D-0BABD0F586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7597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82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8193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97E49D-5230-F84E-6513-1FF2AA1352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282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2095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6698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84DBCB-70DB-FD54-39AC-5FECFB6C1B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0328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991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515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16C056-4F02-0D82-027D-E6F907B864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7424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1947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875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63BDF9-DB88-1110-A3D7-3E56D1ABAA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494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15538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7618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2C357E-3E72-8093-E431-92A9EE0A8A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4519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676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5191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5D719E-70AB-6548-91D3-FE4B7EFF515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133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2211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674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F402D6-F984-1C5D-5461-4232AD3E8F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276286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039184304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1375412685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7032030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3344263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21389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738085052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69174815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6883423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5731734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172739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493912817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0990913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42237235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47164483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54025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787622360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622972745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75763252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5214490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60332970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739031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32497862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75962290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85311508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80659269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828718205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765070503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731965988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67184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903677806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47310660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94084318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341183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284626632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70451446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577075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792173127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118755988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0870016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79489137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6395401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858830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969899607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460102148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51014158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848462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02666269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75065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138182969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9188660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78162674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1080322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476441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460976131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038417027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309199679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93418261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37290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399859159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02580692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87809667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8975848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media1.sv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9017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9" y="748483"/>
            <a:ext cx="9144000" cy="568991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Волгоградский Государственный Технический Университет</a:t>
            </a:r>
            <a:endParaRPr sz="2000" b="0" i="0" u="none" strike="noStrike" cap="none" spc="0">
              <a:solidFill>
                <a:schemeClr val="tx1"/>
              </a:solidFill>
              <a:latin typeface="Consolas"/>
              <a:cs typeface="Consolas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Кафедра «Программное обеспечение автоматизированных систем»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005378915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3999" y="4314187"/>
            <a:ext cx="9144000" cy="16557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>
              <a:defRPr/>
            </a:pPr>
            <a:r>
              <a:rPr lang="ru-RU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Исполнитель: студент группы ПрИн-46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7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Бурденюк С.Р.</a:t>
            </a:r>
            <a:endParaRPr lang="ru-RU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algn="l">
              <a:defRPr/>
            </a:pPr>
            <a:r>
              <a:rPr lang="ru-RU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Научный руководитель: ст.пр., Донская А.Р.</a:t>
            </a:r>
            <a:endParaRPr lang="ru-RU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algn="l">
              <a:defRPr/>
            </a:pPr>
            <a:r>
              <a:rPr lang="ru-RU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Научный консультант: к.т.н., Зубков А.В.</a:t>
            </a:r>
            <a:endParaRPr lang="ru-RU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07902462" name="Title 1"/>
          <p:cNvSpPr>
            <a:spLocks noGrp="1"/>
          </p:cNvSpPr>
          <p:nvPr/>
        </p:nvSpPr>
        <p:spPr bwMode="auto">
          <a:xfrm flipH="0" flipV="0">
            <a:off x="1220466" y="2556631"/>
            <a:ext cx="9943387" cy="96850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25000" lnSpcReduction="15000"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sz="13000" b="1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Разработка веб-приложения для рекомендаций одежды с учётом климатических условий региона, погодных факторов и индивидуальных предпочтений пользователей</a:t>
            </a:r>
            <a:endParaRPr sz="15000" b="1"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738700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3036705" y="436339"/>
            <a:ext cx="6118589" cy="1325562"/>
          </a:xfrm>
        </p:spPr>
        <p:txBody>
          <a:bodyPr/>
          <a:lstStyle/>
          <a:p>
            <a:pPr>
              <a:defRPr/>
            </a:pPr>
            <a:r>
              <a:rPr>
                <a:latin typeface="Consolas"/>
                <a:ea typeface="Consolas"/>
                <a:cs typeface="Consolas"/>
              </a:rPr>
              <a:t>Актуальность</a:t>
            </a:r>
            <a:endParaRPr>
              <a:latin typeface="Consolas"/>
              <a:cs typeface="Consolas"/>
            </a:endParaRPr>
          </a:p>
        </p:txBody>
      </p:sp>
      <p:sp>
        <p:nvSpPr>
          <p:cNvPr id="1565538602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9925069" cy="4815169"/>
          </a:xfrm>
        </p:spPr>
        <p:txBody>
          <a:bodyPr/>
          <a:lstStyle/>
          <a:p>
            <a:pPr>
              <a:defRPr/>
            </a:pPr>
            <a:r>
              <a:rPr sz="2200" b="0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200" b="0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В сфере моды и продажи одежды наблюдается увеличение объёма данных о предпочтениях пользователей и их гардеробах, что открывает возможности для применения алгоритмов обработки данных и построения рекомендательных систем. Разработка веб-приложения для подбора одежды с учетом погодных факторов решает важную практическую задачу по снижению когнитивной нагрузки при выборе гардероба и способствует более рациональному использованию имеющейся одежды, что соответствует современным трендам осознанного потребления.</a:t>
            </a:r>
            <a:endParaRPr sz="9000"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548969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1309485" y="436339"/>
            <a:ext cx="9961191" cy="1325562"/>
          </a:xfrm>
        </p:spPr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Объект и предмет исследования</a:t>
            </a:r>
            <a:endParaRPr>
              <a:latin typeface="Consolas"/>
              <a:cs typeface="Consolas"/>
            </a:endParaRPr>
          </a:p>
        </p:txBody>
      </p:sp>
      <p:sp>
        <p:nvSpPr>
          <p:cNvPr id="468795552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>
              <a:defRPr/>
            </a:pPr>
            <a:r>
              <a:rPr lang="ru-RU" sz="3600" b="1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Объект исследования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: рекомендательная система с интеграцией внешних данных и анализом предпочтений человека.</a:t>
            </a:r>
            <a:endParaRPr lang="ru-RU" sz="3600" b="0" i="0" u="none" strike="noStrike" cap="none" spc="0">
              <a:solidFill>
                <a:schemeClr val="tx1"/>
              </a:solidFill>
              <a:latin typeface="Consolas"/>
              <a:ea typeface="Consolas"/>
              <a:cs typeface="Consolas"/>
            </a:endParaRPr>
          </a:p>
          <a:p>
            <a:pPr>
              <a:defRPr/>
            </a:pPr>
            <a:r>
              <a:rPr lang="ru-RU" sz="3600" b="1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Предмет исследования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: Инструменты и архитектурные решения для реализации веб-приложения-рекомендателя одежды, включая управление состоянием (гардероб), обработку внешних событий (погода) и генерацию персонализированных комбинаций.</a:t>
            </a:r>
            <a:endParaRPr lang="ru-RU" sz="3600" b="0" i="0" u="none" strike="noStrike" cap="none" spc="0">
              <a:solidFill>
                <a:schemeClr val="tx1"/>
              </a:solidFill>
              <a:latin typeface="Consolas"/>
              <a:ea typeface="Consolas"/>
              <a:cs typeface="Consolas"/>
            </a:endParaRPr>
          </a:p>
          <a:p>
            <a:pPr>
              <a:defRPr/>
            </a:pPr>
            <a:r>
              <a:rPr lang="ru-RU" sz="3600" b="1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Практическая значимость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 данной работы заключается в повышении эффективности и удобства планирования повседневного гардероба для пользователей за счет автоматизации процесса подбора одежды с учетом множества контекстных параметров.</a:t>
            </a:r>
            <a:endParaRPr lang="ru-RU" sz="2800" b="0" i="0" u="none" strike="noStrike" cap="none" spc="0">
              <a:solidFill>
                <a:schemeClr val="tx1"/>
              </a:solidFill>
              <a:latin typeface="Consolas"/>
              <a:ea typeface="Consolas"/>
              <a:cs typeface="Consolas"/>
            </a:endParaRPr>
          </a:p>
          <a:p>
            <a:pPr>
              <a:defRPr/>
            </a:pPr>
            <a:endParaRPr sz="2800" b="0" i="0" u="none" strike="noStrike" cap="none" spc="0">
              <a:solidFill>
                <a:schemeClr val="tx1"/>
              </a:solidFill>
              <a:latin typeface="Consolas"/>
              <a:cs typeface="Consolas"/>
            </a:endParaRPr>
          </a:p>
          <a:p>
            <a:pPr>
              <a:defRPr/>
            </a:pPr>
            <a:endParaRPr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205688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1309484" y="436338"/>
            <a:ext cx="9961191" cy="1325561"/>
          </a:xfrm>
        </p:spPr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Научная новизна</a:t>
            </a:r>
            <a:endParaRPr>
              <a:latin typeface="Consolas"/>
              <a:cs typeface="Consolas"/>
            </a:endParaRPr>
          </a:p>
        </p:txBody>
      </p:sp>
      <p:sp>
        <p:nvSpPr>
          <p:cNvPr id="1660048838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Первое веб-решение (не мобильное приложение),</a:t>
            </a:r>
            <a:r>
              <a:rPr sz="2200" b="1" i="0" u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полностью работающее</a:t>
            </a:r>
            <a:r>
              <a:rPr sz="2200" b="0" i="0" u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только с личным гардеробом пользователя.
</a:t>
            </a:r>
            <a:endParaRPr sz="2200" b="0" i="0" u="none">
              <a:solidFill>
                <a:srgbClr val="000000"/>
              </a:solidFill>
              <a:latin typeface="Consolas"/>
              <a:cs typeface="Consolas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Явный </a:t>
            </a:r>
            <a:r>
              <a:rPr sz="2200" b="1" i="0" u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учёт стиля</a:t>
            </a:r>
            <a:r>
              <a:rPr sz="2200" b="0" i="0" u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как отдельного параметра при генерации комплектов.</a:t>
            </a:r>
            <a:endParaRPr sz="2200" b="0" i="0" u="none">
              <a:solidFill>
                <a:srgbClr val="000000"/>
              </a:solidFill>
              <a:latin typeface="Consolas"/>
              <a:cs typeface="Consolas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
Интеграция регионального климата + текущей погоды + уровня теплоты каждой вещи.</a:t>
            </a:r>
            <a:endParaRPr sz="9000"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865463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1309484" y="436338"/>
            <a:ext cx="9961191" cy="1325561"/>
          </a:xfrm>
        </p:spPr>
        <p:txBody>
          <a:bodyPr/>
          <a:lstStyle/>
          <a:p>
            <a:pPr>
              <a:defRPr/>
            </a:pPr>
            <a:r>
              <a:rPr sz="4400" b="0" i="0" u="none" spc="-6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Существующая проблема в заданной предметной области </a:t>
            </a:r>
            <a:endParaRPr sz="4400">
              <a:latin typeface="Consolas"/>
              <a:cs typeface="Consolas"/>
            </a:endParaRPr>
          </a:p>
        </p:txBody>
      </p:sp>
      <p:sp>
        <p:nvSpPr>
          <p:cNvPr id="724340907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Пользователь не помнит весь свой гардероб.</a:t>
            </a:r>
            <a:endParaRPr sz="2000" b="0" i="0" u="none">
              <a:solidFill>
                <a:srgbClr val="000000"/>
              </a:solidFill>
              <a:latin typeface="Consolas"/>
              <a:cs typeface="Consolas"/>
            </a:endParaRPr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Тратит время на проверку погоды и перебор вещей.
</a:t>
            </a:r>
            <a:endParaRPr sz="2000" b="0" i="0" u="none">
              <a:solidFill>
                <a:srgbClr val="000000"/>
              </a:solidFill>
              <a:latin typeface="Consolas"/>
              <a:cs typeface="Consolas"/>
            </a:endParaRPr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Часто выбирает несоответствующий стиль или уровень теплоты.</a:t>
            </a:r>
            <a:endParaRPr sz="2000" b="0" i="0" u="none">
              <a:solidFill>
                <a:srgbClr val="000000"/>
              </a:solidFill>
              <a:latin typeface="Consolas"/>
              <a:cs typeface="Consolas"/>
            </a:endParaRPr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Нет инструмента, который гарантированно подберёт комплект только из своих вещей</a:t>
            </a:r>
            <a:r>
              <a:rPr sz="2000">
                <a:latin typeface="Consolas"/>
                <a:ea typeface="Consolas"/>
                <a:cs typeface="Consolas"/>
              </a:rPr>
              <a:t>.</a:t>
            </a:r>
            <a:endParaRPr sz="8000"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09594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1309485" y="436339"/>
            <a:ext cx="9961191" cy="1325562"/>
          </a:xfrm>
        </p:spPr>
        <p:txBody>
          <a:bodyPr/>
          <a:lstStyle/>
          <a:p>
            <a:pPr>
              <a:defRPr/>
            </a:pPr>
            <a:r>
              <a:rPr>
                <a:latin typeface="Consolas"/>
                <a:ea typeface="Consolas"/>
                <a:cs typeface="Consolas"/>
              </a:rPr>
              <a:t>Цели и задачи</a:t>
            </a:r>
            <a:endParaRPr>
              <a:latin typeface="Consolas"/>
              <a:cs typeface="Consolas"/>
            </a:endParaRPr>
          </a:p>
        </p:txBody>
      </p:sp>
      <p:sp>
        <p:nvSpPr>
          <p:cNvPr id="674356193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543925" y="1575630"/>
            <a:ext cx="11189649" cy="490492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Целью разработки</a:t>
            </a:r>
            <a:r>
              <a:rPr sz="1600" b="0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является создание программного инструмента для персонализации рекомендаций по подбору гардероба с учетом комплексных параметров — текущих погодных условий,  индивидуальных предпочтений пользователя в стиле и состава его виртуального гардероба.</a:t>
            </a:r>
            <a:endParaRPr sz="4800">
              <a:latin typeface="Consolas"/>
              <a:cs typeface="Consolas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Для достижения поставленной цели были выделены следующие задачи:</a:t>
            </a:r>
            <a:endParaRPr sz="4800">
              <a:latin typeface="Consolas"/>
              <a:cs typeface="Consolas"/>
            </a:endParaRPr>
          </a:p>
          <a:p>
            <a:pPr>
              <a:defRPr/>
            </a:pPr>
            <a:r>
              <a:rPr sz="1600" b="1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Провести анализ предметной области</a:t>
            </a:r>
            <a:r>
              <a:rPr sz="1600" b="0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— исследовать существующие системы рекомендаций одежды, методы формализации правил сочетаемости, подходы к учету погодных факторов и стилевых предпочтений</a:t>
            </a:r>
            <a:endParaRPr sz="4800">
              <a:latin typeface="Consolas"/>
              <a:cs typeface="Consolas"/>
            </a:endParaRPr>
          </a:p>
          <a:p>
            <a:pPr>
              <a:defRPr/>
            </a:pPr>
            <a:r>
              <a:rPr sz="1600" b="1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Спроектировать и реализовать архитектуру веб-приложения</a:t>
            </a:r>
            <a:r>
              <a:rPr sz="1600" b="0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на основе фреймворка Spring Boot с использованием шаблона MVC и реляционной базы данных</a:t>
            </a:r>
            <a:endParaRPr sz="4800">
              <a:latin typeface="Consolas"/>
              <a:cs typeface="Consolas"/>
            </a:endParaRPr>
          </a:p>
          <a:p>
            <a:pPr>
              <a:defRPr/>
            </a:pPr>
            <a:r>
              <a:rPr sz="1600" b="1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Разработать алгоритм рекомендательной системы</a:t>
            </a:r>
            <a:r>
              <a:rPr sz="1600" b="0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, включающий модули фильтрации гардероба по погодным условиям, сборки комплектов одежды и их ранжирования по соответствию пользовательским предпочтениям</a:t>
            </a:r>
            <a:endParaRPr sz="4800">
              <a:latin typeface="Consolas"/>
              <a:cs typeface="Consolas"/>
            </a:endParaRPr>
          </a:p>
          <a:p>
            <a:pPr>
              <a:defRPr/>
            </a:pPr>
            <a:r>
              <a:rPr sz="1600" b="1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Реализовать интеграцию с внешними сервисами</a:t>
            </a:r>
            <a:r>
              <a:rPr sz="1600" b="0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— погодными API для получения актуальных метеорологических данных по местоположению пользователя</a:t>
            </a:r>
            <a:endParaRPr sz="4800">
              <a:latin typeface="Consolas"/>
              <a:cs typeface="Consolas"/>
            </a:endParaRPr>
          </a:p>
          <a:p>
            <a:pPr>
              <a:defRPr/>
            </a:pPr>
            <a:r>
              <a:rPr sz="1600" b="1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Обеспечить безопасность и надежность системы</a:t>
            </a:r>
            <a:r>
              <a:rPr sz="1600" b="0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— реализовать механизмы аутентификации и авторизации, защиту от распространенных веб-уязвимостей</a:t>
            </a:r>
            <a:endParaRPr sz="4800">
              <a:latin typeface="Consolas"/>
              <a:cs typeface="Consolas"/>
            </a:endParaRPr>
          </a:p>
          <a:p>
            <a:pPr>
              <a:defRPr/>
            </a:pPr>
            <a:r>
              <a:rPr sz="1600" b="1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Разработать пользовательский интерфейс</a:t>
            </a:r>
            <a:r>
              <a:rPr sz="1600" b="0" i="0" u="none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, обеспечивающий интуитивное взаимодействие с системой</a:t>
            </a:r>
            <a:endParaRPr sz="1600" b="0" i="0" u="none">
              <a:solidFill>
                <a:srgbClr val="0F1115"/>
              </a:solidFill>
              <a:latin typeface="Consolas"/>
              <a:ea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76192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1309484" y="436338"/>
            <a:ext cx="9961191" cy="1325561"/>
          </a:xfrm>
        </p:spPr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Анализ предметной области</a:t>
            </a:r>
            <a:endParaRPr>
              <a:latin typeface="Consolas"/>
              <a:cs typeface="Consolas"/>
            </a:endParaRPr>
          </a:p>
        </p:txBody>
      </p:sp>
      <p:sp>
        <p:nvSpPr>
          <p:cNvPr id="2098857447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543924" y="1575630"/>
            <a:ext cx="11189648" cy="490492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ru-RU" sz="2000" b="0" i="0" u="none" strike="noStrike" cap="none" spc="0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Системы рекомендаций одежды</a:t>
            </a:r>
            <a:endParaRPr sz="2000" b="0" i="0" u="none" strike="noStrike" cap="none" spc="0">
              <a:solidFill>
                <a:srgbClr val="0F1115"/>
              </a:solidFill>
              <a:latin typeface="Consolas"/>
              <a:cs typeface="Consolas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Погодные API (</a:t>
            </a:r>
            <a:r>
              <a:rPr lang="en-US" sz="2000" b="0" i="0" u="none" strike="noStrike" cap="none" spc="0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WeatherAPI</a:t>
            </a:r>
            <a:r>
              <a:rPr lang="ru-RU" sz="2000" b="0" i="0" u="none" strike="noStrike" cap="none" spc="0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)</a:t>
            </a:r>
            <a:endParaRPr sz="2000" b="0" i="0" u="none" strike="noStrike" cap="none" spc="0">
              <a:solidFill>
                <a:srgbClr val="0F1115"/>
              </a:solidFill>
              <a:latin typeface="Consolas"/>
              <a:cs typeface="Consolas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Управление гардеробом (CRUD + фильтры)</a:t>
            </a:r>
            <a:endParaRPr sz="2000" b="0" i="0" u="none" strike="noStrike" cap="none" spc="0">
              <a:solidFill>
                <a:srgbClr val="0F1115"/>
              </a:solidFill>
              <a:latin typeface="Consolas"/>
              <a:cs typeface="Consolas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rgbClr val="0F1115"/>
                </a:solidFill>
                <a:latin typeface="Consolas"/>
                <a:ea typeface="Consolas"/>
                <a:cs typeface="Consolas"/>
              </a:rPr>
              <a:t>Архитектура: MVC, ORM, REST</a:t>
            </a:r>
            <a:endParaRPr sz="1600" b="0" i="0" u="none">
              <a:solidFill>
                <a:srgbClr val="0F1115"/>
              </a:solidFill>
              <a:latin typeface="Consolas"/>
              <a:ea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929674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4409095" y="436339"/>
            <a:ext cx="3373808" cy="1325562"/>
          </a:xfrm>
        </p:spPr>
        <p:txBody>
          <a:bodyPr/>
          <a:lstStyle/>
          <a:p>
            <a:pPr>
              <a:defRPr/>
            </a:pPr>
            <a:r>
              <a:rPr>
                <a:latin typeface="Consolas"/>
                <a:ea typeface="Consolas"/>
                <a:cs typeface="Consolas"/>
              </a:rPr>
              <a:t>Аналоги</a:t>
            </a:r>
            <a:endParaRPr>
              <a:latin typeface="Consolas"/>
              <a:cs typeface="Consolas"/>
            </a:endParaRPr>
          </a:p>
        </p:txBody>
      </p:sp>
      <p:sp>
        <p:nvSpPr>
          <p:cNvPr id="1437602569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/>
          </a:p>
        </p:txBody>
      </p:sp>
      <p:graphicFrame>
        <p:nvGraphicFramePr>
          <p:cNvPr id="492139244" name=""/>
          <p:cNvGraphicFramePr>
            <a:graphicFrameLocks xmlns:a="http://schemas.openxmlformats.org/drawingml/2006/main"/>
          </p:cNvGraphicFramePr>
          <p:nvPr/>
        </p:nvGraphicFramePr>
        <p:xfrm rot="0">
          <a:off x="838198" y="1825624"/>
          <a:ext cx="5864224" cy="274827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119864"/>
                <a:gridCol w="1134319"/>
                <a:gridCol w="1997803"/>
                <a:gridCol w="2048011"/>
                <a:gridCol w="1135070"/>
                <a:gridCol w="1417649"/>
                <a:gridCol w="1743881"/>
              </a:tblGrid>
              <a:tr h="485006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Приложение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Платформа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Личный гардероб (загрузка фото)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Учёт погоды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Учёт стиля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Рекомендации ТОЛЬКО из своих вещей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Основные недостатки</a:t>
                      </a:r>
                      <a:endParaRPr/>
                    </a:p>
                  </a:txBody>
                  <a:tcPr marL="9524" marR="9524" marT="9524" marB="9524" anchor="ctr"/>
                </a:tc>
              </a:tr>
              <a:tr h="723186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Weather Fit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iOS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Нет (готовые образы)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Частично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Нет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Не использует свои вещи</a:t>
                      </a:r>
                      <a:endParaRPr/>
                    </a:p>
                  </a:txBody>
                  <a:tcPr marL="9524" marR="9524" marT="9524" marB="9524" anchor="ctr"/>
                </a:tc>
              </a:tr>
              <a:tr h="665997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Acloset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iOS+Android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Да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Слабый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Да, но AI часто ошибается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Повторяющиеся сочетания, платный полный доступ</a:t>
                      </a:r>
                      <a:endParaRPr/>
                    </a:p>
                  </a:txBody>
                  <a:tcPr marL="9524" marR="9524" marT="9524" marB="9524" anchor="ctr"/>
                </a:tc>
              </a:tr>
              <a:tr h="665997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Cladwell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Web+App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Да (капсульный)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Частично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Ограничения бесплатной версии, слабый AI</a:t>
                      </a:r>
                      <a:endParaRPr/>
                    </a:p>
                  </a:txBody>
                  <a:tcPr marL="9524" marR="9524" marT="9524" marB="9524" anchor="ctr"/>
                </a:tc>
              </a:tr>
              <a:tr h="665997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Whering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iOS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Да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Да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Нет погоды, устаревший дизайн</a:t>
                      </a:r>
                      <a:endParaRPr/>
                    </a:p>
                  </a:txBody>
                  <a:tcPr marL="9524" marR="9524" marT="9524" marB="9524" anchor="ctr"/>
                </a:tc>
              </a:tr>
              <a:tr h="665997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Weather Outfit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Android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Редактирование дефолтных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Нет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Не персонализирован</a:t>
                      </a:r>
                      <a:endParaRPr/>
                    </a:p>
                  </a:txBody>
                  <a:tcPr marL="9524" marR="9524" marT="9524" marB="9524" anchor="ctr"/>
                </a:tc>
              </a:tr>
              <a:tr h="665997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WearToWeather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Web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Нет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+(AI)</a:t>
                      </a:r>
                      <a:endParaRPr/>
                    </a:p>
                  </a:txBody>
                  <a:tcPr vert="horz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Нет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Только вдохновение, не реальный гардероб</a:t>
                      </a:r>
                      <a:endParaRPr/>
                    </a:p>
                  </a:txBody>
                  <a:tcPr marL="9524" marR="9524" marT="9524" marB="9524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630707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2858386" y="436338"/>
            <a:ext cx="5619749" cy="1325561"/>
          </a:xfrm>
        </p:spPr>
        <p:txBody>
          <a:bodyPr/>
          <a:lstStyle/>
          <a:p>
            <a:pPr>
              <a:defRPr/>
            </a:pPr>
            <a:r>
              <a:rPr>
                <a:latin typeface="Consolas"/>
                <a:ea typeface="Consolas"/>
                <a:cs typeface="Consolas"/>
              </a:rPr>
              <a:t>Анализ аналогов</a:t>
            </a:r>
            <a:endParaRPr>
              <a:latin typeface="Consolas"/>
              <a:cs typeface="Consolas"/>
            </a:endParaRPr>
          </a:p>
        </p:txBody>
      </p:sp>
      <p:sp>
        <p:nvSpPr>
          <p:cNvPr id="703107414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Вывод:</a:t>
            </a:r>
            <a:endParaRPr sz="2800" b="0" i="0" u="none" strike="noStrike" cap="none" spc="0">
              <a:solidFill>
                <a:schemeClr val="tx1"/>
              </a:solidFill>
              <a:latin typeface="Consolas"/>
              <a:cs typeface="Consolas"/>
            </a:endParaRPr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Все существующие решения либо не используют личный гардероб, либо не учитывают стиль, либо являются мобильными приложениями. Отсутствует полноценное веб-решение с жёстким ограничением «только свои вещи» — именно эту нишу закрывает разрабатываемое приложение.</a:t>
            </a:r>
            <a:endParaRPr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567931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1369022" y="436338"/>
            <a:ext cx="8650431" cy="132556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Процесс решения существующей задачи (AS-IS</a:t>
            </a:r>
            <a:r>
              <a:rPr>
                <a:latin typeface="Consolas"/>
                <a:cs typeface="Consolas"/>
              </a:rPr>
              <a:t>)</a:t>
            </a:r>
            <a:endParaRPr>
              <a:latin typeface="Consolas"/>
              <a:cs typeface="Consolas"/>
            </a:endParaRPr>
          </a:p>
        </p:txBody>
      </p:sp>
      <p:sp>
        <p:nvSpPr>
          <p:cNvPr id="1523173646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AS-IS (существующий процесс):</a:t>
            </a:r>
            <a:endParaRPr lang="ru-RU" sz="2800" b="0" i="0" u="none" strike="noStrike" cap="none" spc="0">
              <a:solidFill>
                <a:schemeClr val="tx1"/>
              </a:solidFill>
              <a:latin typeface="Consolas"/>
              <a:cs typeface="Consolas"/>
            </a:endParaRPr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Пользователь → смотрит прогноз погоды → вспоминает, что есть в шкафу → перебирает вещи → пытается сочетать по стилю → часто ошибается → тратит 15–20 мин ежедневно.</a:t>
            </a:r>
            <a:endParaRPr lang="ru-RU" sz="2800" b="0" i="0" u="none" strike="noStrike" cap="none" spc="0">
              <a:solidFill>
                <a:schemeClr val="tx1"/>
              </a:solidFill>
              <a:latin typeface="Consolas"/>
              <a:cs typeface="Consolas"/>
            </a:endParaRPr>
          </a:p>
          <a:p>
            <a:pPr>
              <a:defRPr/>
            </a:pPr>
            <a:r>
              <a:rPr lang="ru-RU" sz="2800" b="1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Проблемы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: нет системности, забывчивость, несоответствие стилю.</a:t>
            </a:r>
            <a:endParaRPr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126459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780204" y="436338"/>
            <a:ext cx="10815204" cy="132556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Как будет решаться задача (TO-BE)</a:t>
            </a:r>
            <a:endParaRPr>
              <a:latin typeface="Consolas"/>
              <a:cs typeface="Consolas"/>
            </a:endParaRPr>
          </a:p>
        </p:txBody>
      </p:sp>
      <p:sp>
        <p:nvSpPr>
          <p:cNvPr id="2010847805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Пользователь добавляет вещи один раз → выбирает стиль → нажимает «Генерировать образ» → система:</a:t>
            </a:r>
            <a:endParaRPr/>
          </a:p>
          <a:p>
            <a:pPr marL="0" indent="0">
              <a:buFont typeface="Arial"/>
              <a:buNone/>
              <a:defRPr/>
            </a:pPr>
            <a:endParaRPr lang="ru-RU" sz="2800" b="0" i="0" u="none" strike="noStrike" cap="none" spc="0">
              <a:solidFill>
                <a:schemeClr val="tx1"/>
              </a:solidFill>
              <a:latin typeface="Consolas"/>
              <a:cs typeface="Consolas"/>
            </a:endParaRPr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Получает погоду по геолокации</a:t>
            </a:r>
            <a:endParaRPr lang="ru-RU" sz="2800" b="0" i="0" u="none" strike="noStrike" cap="none" spc="0">
              <a:solidFill>
                <a:schemeClr val="tx1"/>
              </a:solidFill>
              <a:latin typeface="Consolas"/>
              <a:cs typeface="Consolas"/>
            </a:endParaRPr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Фильтрует гардероб по теплоте + осадкам + ветру</a:t>
            </a:r>
            <a:endParaRPr lang="ru-RU" sz="2800" b="0" i="0" u="none" strike="noStrike" cap="none" spc="0">
              <a:solidFill>
                <a:schemeClr val="tx1"/>
              </a:solidFill>
              <a:latin typeface="Consolas"/>
              <a:cs typeface="Consolas"/>
            </a:endParaRPr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Учитывает выбранный стиль</a:t>
            </a:r>
            <a:endParaRPr lang="ru-RU" sz="2800" b="0" i="0" u="none" strike="noStrike" cap="none" spc="0">
              <a:solidFill>
                <a:schemeClr val="tx1"/>
              </a:solidFill>
              <a:latin typeface="Consolas"/>
              <a:cs typeface="Consolas"/>
            </a:endParaRPr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Выдаёт 3–5 готовых комплектов с фото</a:t>
            </a:r>
            <a:endParaRPr lang="ru-RU" sz="2800" b="0" i="0" u="none" strike="noStrike" cap="none" spc="0">
              <a:solidFill>
                <a:schemeClr val="tx1"/>
              </a:solidFill>
              <a:latin typeface="Consolas"/>
              <a:cs typeface="Consolas"/>
            </a:endParaRPr>
          </a:p>
          <a:p>
            <a:pPr>
              <a:defRPr/>
            </a:pPr>
            <a:endParaRPr lang="ru-RU" sz="2800" b="0" i="0" u="none" strike="noStrike" cap="none" spc="0">
              <a:solidFill>
                <a:schemeClr val="tx1"/>
              </a:solidFill>
              <a:latin typeface="Consolas"/>
              <a:cs typeface="Consolas"/>
            </a:endParaRPr>
          </a:p>
          <a:p>
            <a:pPr marL="0" indent="0">
              <a:buFont typeface="Arial"/>
              <a:buNone/>
              <a:defRPr/>
            </a:pPr>
            <a:r>
              <a:rPr lang="ru-RU" sz="2800" b="1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Преимущества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: время сокращается до 10 секунд, точность 90+ %, используется только свой гардероб.</a:t>
            </a:r>
            <a:endParaRPr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327781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1309485" y="436339"/>
            <a:ext cx="9961191" cy="1325562"/>
          </a:xfrm>
        </p:spPr>
        <p:txBody>
          <a:bodyPr/>
          <a:lstStyle/>
          <a:p>
            <a:pPr>
              <a:defRPr/>
            </a:pPr>
            <a:r>
              <a:rPr>
                <a:latin typeface="Consolas"/>
                <a:ea typeface="Consolas"/>
                <a:cs typeface="Consolas"/>
              </a:rPr>
              <a:t>Программные средства</a:t>
            </a:r>
            <a:endParaRPr>
              <a:latin typeface="Consolas"/>
              <a:cs typeface="Consolas"/>
            </a:endParaRPr>
          </a:p>
        </p:txBody>
      </p:sp>
      <p:sp>
        <p:nvSpPr>
          <p:cNvPr id="60457754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5007574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Для обработки данных: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PostgreSQL</a:t>
            </a:r>
            <a:endParaRPr sz="2800" b="0" i="0" u="none" strike="noStrike" cap="none" spc="0">
              <a:solidFill>
                <a:schemeClr val="tx1"/>
              </a:solidFill>
              <a:latin typeface="Consolas"/>
              <a:cs typeface="Consolas"/>
            </a:endParaRPr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Для разработки веб-приложения: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Java Spring,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HTML, CSS, React, Java Script</a:t>
            </a:r>
            <a:endParaRPr lang="en-US" sz="2800" b="0" i="0" u="none" strike="noStrike" cap="none" spc="0">
              <a:solidFill>
                <a:schemeClr val="tx1"/>
              </a:solidFill>
              <a:latin typeface="Consolas"/>
              <a:ea typeface="Consolas"/>
              <a:cs typeface="Consolas"/>
            </a:endParaRPr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Система контроля версий: Git</a:t>
            </a:r>
            <a:endParaRPr>
              <a:latin typeface="Consolas"/>
              <a:cs typeface="Consolas"/>
            </a:endParaRPr>
          </a:p>
        </p:txBody>
      </p:sp>
      <p:pic>
        <p:nvPicPr>
          <p:cNvPr id="1838975475" name="Рисунок 3" descr="Java — Википедия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262457" y="344185"/>
            <a:ext cx="1280916" cy="2348345"/>
          </a:xfrm>
          <a:prstGeom prst="rect">
            <a:avLst/>
          </a:prstGeom>
        </p:spPr>
      </p:pic>
      <p:pic>
        <p:nvPicPr>
          <p:cNvPr id="1864404941" name="Рисунок 4" descr="Файл:Spring Framework Logo 2018.svg — Википедия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794262" y="2936162"/>
            <a:ext cx="4143970" cy="1065129"/>
          </a:xfrm>
          <a:prstGeom prst="rect">
            <a:avLst/>
          </a:prstGeom>
        </p:spPr>
      </p:pic>
      <p:pic>
        <p:nvPicPr>
          <p:cNvPr id="2093882210" name="Рисунок 5" descr="PostgreSQL — Википедия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9958141" y="3059838"/>
            <a:ext cx="2062728" cy="2127188"/>
          </a:xfrm>
          <a:prstGeom prst="rect">
            <a:avLst/>
          </a:prstGeom>
        </p:spPr>
      </p:pic>
      <p:pic>
        <p:nvPicPr>
          <p:cNvPr id="947665508" name="Рисунок 6" descr="React Native — Википедия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7866247" y="956506"/>
            <a:ext cx="2091893" cy="1861458"/>
          </a:xfrm>
          <a:prstGeom prst="rect">
            <a:avLst/>
          </a:prstGeom>
        </p:spPr>
      </p:pic>
      <p:pic>
        <p:nvPicPr>
          <p:cNvPr id="529631334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8959815" y="4961658"/>
            <a:ext cx="1943100" cy="1828800"/>
          </a:xfrm>
          <a:prstGeom prst="rect">
            <a:avLst/>
          </a:prstGeom>
        </p:spPr>
      </p:pic>
      <p:pic>
        <p:nvPicPr>
          <p:cNvPr id="1336662440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6702136" y="4115464"/>
            <a:ext cx="2143125" cy="2143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01361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1309485" y="436339"/>
            <a:ext cx="9961191" cy="1325562"/>
          </a:xfrm>
        </p:spPr>
        <p:txBody>
          <a:bodyPr/>
          <a:lstStyle/>
          <a:p>
            <a:pPr>
              <a:defRPr/>
            </a:pPr>
            <a:r>
              <a:rPr>
                <a:latin typeface="Consolas"/>
                <a:ea typeface="Consolas"/>
                <a:cs typeface="Consolas"/>
              </a:rPr>
              <a:t>Функциональные требования</a:t>
            </a:r>
            <a:endParaRPr>
              <a:latin typeface="Consolas"/>
              <a:cs typeface="Consolas"/>
            </a:endParaRPr>
          </a:p>
        </p:txBody>
      </p:sp>
      <p:sp>
        <p:nvSpPr>
          <p:cNvPr id="30228531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/>
          </a:p>
        </p:txBody>
      </p:sp>
      <p:pic>
        <p:nvPicPr>
          <p:cNvPr id="95953936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1157242" y="1504970"/>
            <a:ext cx="8929485" cy="48756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557338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1309485" y="436339"/>
            <a:ext cx="9961191" cy="1325562"/>
          </a:xfrm>
        </p:spPr>
        <p:txBody>
          <a:bodyPr/>
          <a:lstStyle/>
          <a:p>
            <a:pPr>
              <a:defRPr/>
            </a:pPr>
            <a:r>
              <a:rPr>
                <a:latin typeface="Consolas"/>
                <a:ea typeface="Consolas"/>
                <a:cs typeface="Consolas"/>
              </a:rPr>
              <a:t>Входные/выходные данные</a:t>
            </a:r>
            <a:endParaRPr>
              <a:latin typeface="Consolas"/>
              <a:cs typeface="Consolas"/>
            </a:endParaRPr>
          </a:p>
        </p:txBody>
      </p:sp>
      <p:sp>
        <p:nvSpPr>
          <p:cNvPr id="983059788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ru-RU" sz="2800" b="1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Вход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: фото вещи, тип, стиль, уровень теплоты, геолокация, выбранный стиль</a:t>
            </a:r>
            <a:endParaRPr sz="2800" b="0" i="0" u="none" strike="noStrike" cap="none" spc="0">
              <a:solidFill>
                <a:schemeClr val="tx1"/>
              </a:solidFill>
              <a:latin typeface="Consolas"/>
              <a:cs typeface="Consolas"/>
            </a:endParaRPr>
          </a:p>
          <a:p>
            <a:pPr>
              <a:defRPr/>
            </a:pPr>
            <a:r>
              <a:rPr lang="ru-RU" sz="2800" b="1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Выход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: 3–5 карточек комплектов с фото + названиями вещей</a:t>
            </a:r>
            <a:endParaRPr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745732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1309485" y="436339"/>
            <a:ext cx="9961191" cy="1325562"/>
          </a:xfrm>
        </p:spPr>
        <p:txBody>
          <a:bodyPr/>
          <a:lstStyle/>
          <a:p>
            <a:pPr>
              <a:defRPr/>
            </a:pPr>
            <a:r>
              <a:rPr>
                <a:latin typeface="Consolas"/>
                <a:ea typeface="Consolas"/>
                <a:cs typeface="Consolas"/>
              </a:rPr>
              <a:t>Структура программы</a:t>
            </a:r>
            <a:r>
              <a:rPr>
                <a:latin typeface="Consolas"/>
                <a:cs typeface="Consolas"/>
              </a:rPr>
              <a:t> на уровне классов</a:t>
            </a:r>
            <a:endParaRPr>
              <a:latin typeface="Consolas"/>
              <a:cs typeface="Consolas"/>
            </a:endParaRPr>
          </a:p>
        </p:txBody>
      </p:sp>
      <p:sp>
        <p:nvSpPr>
          <p:cNvPr id="283009064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196309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1309485" y="436339"/>
            <a:ext cx="9961191" cy="1325562"/>
          </a:xfrm>
        </p:spPr>
        <p:txBody>
          <a:bodyPr/>
          <a:lstStyle/>
          <a:p>
            <a:pPr>
              <a:defRPr/>
            </a:pPr>
            <a:r>
              <a:rPr>
                <a:latin typeface="Consolas"/>
                <a:ea typeface="Consolas"/>
                <a:cs typeface="Consolas"/>
              </a:rPr>
              <a:t>Структура базы данных</a:t>
            </a:r>
            <a:endParaRPr>
              <a:latin typeface="Consolas"/>
              <a:cs typeface="Consolas"/>
            </a:endParaRPr>
          </a:p>
        </p:txBody>
      </p:sp>
      <p:sp>
        <p:nvSpPr>
          <p:cNvPr id="968365512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493067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1309484" y="436338"/>
            <a:ext cx="9961191" cy="1325561"/>
          </a:xfrm>
        </p:spPr>
        <p:txBody>
          <a:bodyPr/>
          <a:lstStyle/>
          <a:p>
            <a:pPr>
              <a:defRPr/>
            </a:pPr>
            <a:r>
              <a:rPr>
                <a:latin typeface="Consolas"/>
                <a:ea typeface="Consolas"/>
                <a:cs typeface="Consolas"/>
              </a:rPr>
              <a:t>Пример работы системы</a:t>
            </a:r>
            <a:endParaRPr>
              <a:latin typeface="Consolas"/>
              <a:cs typeface="Consolas"/>
            </a:endParaRPr>
          </a:p>
        </p:txBody>
      </p:sp>
      <p:sp>
        <p:nvSpPr>
          <p:cNvPr id="1582601755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462537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1309484" y="436338"/>
            <a:ext cx="9961191" cy="1325561"/>
          </a:xfrm>
        </p:spPr>
        <p:txBody>
          <a:bodyPr/>
          <a:lstStyle/>
          <a:p>
            <a:pPr>
              <a:defRPr/>
            </a:pPr>
            <a:r>
              <a:rPr>
                <a:latin typeface="Consolas"/>
                <a:ea typeface="Consolas"/>
                <a:cs typeface="Consolas"/>
              </a:rPr>
              <a:t>Тестирование системы</a:t>
            </a:r>
            <a:endParaRPr>
              <a:latin typeface="Consolas"/>
              <a:cs typeface="Consolas"/>
            </a:endParaRPr>
          </a:p>
        </p:txBody>
      </p:sp>
      <p:sp>
        <p:nvSpPr>
          <p:cNvPr id="776608647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539459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1309485" y="436339"/>
            <a:ext cx="9961191" cy="1325562"/>
          </a:xfrm>
        </p:spPr>
        <p:txBody>
          <a:bodyPr/>
          <a:lstStyle/>
          <a:p>
            <a:pPr>
              <a:defRPr/>
            </a:pPr>
            <a:r>
              <a:rPr>
                <a:latin typeface="Consolas"/>
                <a:ea typeface="Consolas"/>
                <a:cs typeface="Consolas"/>
              </a:rPr>
              <a:t>Выводы</a:t>
            </a:r>
            <a:endParaRPr>
              <a:latin typeface="Consolas"/>
              <a:cs typeface="Consolas"/>
            </a:endParaRPr>
          </a:p>
        </p:txBody>
      </p:sp>
      <p:sp>
        <p:nvSpPr>
          <p:cNvPr id="1631663079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296823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3257780" y="2766218"/>
            <a:ext cx="9961191" cy="1325561"/>
          </a:xfrm>
        </p:spPr>
        <p:txBody>
          <a:bodyPr/>
          <a:lstStyle/>
          <a:p>
            <a:pPr>
              <a:defRPr/>
            </a:pPr>
            <a:r>
              <a:rPr>
                <a:latin typeface="Consolas"/>
                <a:ea typeface="Consolas"/>
                <a:cs typeface="Consolas"/>
              </a:rPr>
              <a:t>Спасибо за внимание!</a:t>
            </a:r>
            <a:endParaRPr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modified xsi:type="dcterms:W3CDTF">2026-03-19T09:41:20Z</dcterms:modified>
</cp:coreProperties>
</file>