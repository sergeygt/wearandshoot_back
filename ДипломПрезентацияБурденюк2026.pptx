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svg" ContentType="image/svg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 /><Relationship Id="rId26" Type="http://schemas.openxmlformats.org/officeDocument/2006/relationships/tableStyles" Target="tableStyles.xml" /><Relationship Id="rId2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694938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2084914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ru-RU"/>
              <a:t>10/30/2013</a:t>
            </a:fld>
            <a:endParaRPr lang="ru-RU"/>
          </a:p>
        </p:txBody>
      </p:sp>
      <p:sp>
        <p:nvSpPr>
          <p:cNvPr id="1787231882" name="Рисунок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491981403" name="Заметка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211574243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37866860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431728" name="Рисунок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3806780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716580514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2877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013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5763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085DAB-4E71-C5DF-EA07-4ADB7F0C65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2600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4099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8494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EB311A-296C-B147-59A3-3FA84182EB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9772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2047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846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4FD0B8-E28C-EF03-EA4F-8A948DE269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76583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20855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9557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770FFC-8A4A-B04D-C0FD-E5785039E31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92923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242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908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4A19F3-1D47-C2A3-2F50-C02134AE6B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6210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9736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1635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A74889-CB22-F0A6-89D4-6E675AE2F2B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9366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68520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Цвет + больше размер</a:t>
            </a:r>
            <a:endParaRPr/>
          </a:p>
        </p:txBody>
      </p:sp>
      <p:sp>
        <p:nvSpPr>
          <p:cNvPr id="2272044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8F0ECC-DD33-0285-1D8A-696D35BE037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8846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5144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89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5C84B4-004C-8C27-04FB-2E086BB079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5665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88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86906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EB384C-493F-F3B0-E281-70FE8AA48B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76013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55150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034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0936B7-C343-216F-7C54-DAA6828416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1565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9162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2933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660216-2537-DEE8-E39F-2DD4D2404C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3065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7489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237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B11772-C80B-1A99-CC9D-0BABD0F586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4912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32457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403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97E49D-5230-F84E-6513-1FF2AA1352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23051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20144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Архитектура программы</a:t>
            </a:r>
            <a:endParaRPr/>
          </a:p>
        </p:txBody>
      </p:sp>
      <p:sp>
        <p:nvSpPr>
          <p:cNvPr id="20579035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84DBCB-70DB-FD54-39AC-5FECFB6C1B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0244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97424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20783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16C056-4F02-0D82-027D-E6F907B864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858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0584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485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63BDF9-DB88-1110-A3D7-3E56D1ABAA4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4717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7580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789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2C357E-3E72-8093-E431-92A9EE0A8AC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317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448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3257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5D719E-70AB-6548-91D3-FE4B7EFF515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41469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27298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76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F402D6-F984-1C5D-5461-4232AD3E8F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6023503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627503192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810082532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313852758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95217079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38053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439667930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83648343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028316917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32518655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408277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445039062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6384459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22684146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0040159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36911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623334565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0343514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936082210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674404543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334479514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3289017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61756486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09616699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945215043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067828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89743144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2130379052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6455329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94144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88761318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006621461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90331771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214048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299309245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9651447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553239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730243949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94447234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0582123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77585880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79539114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163325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715875871" name="Рисунок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Нажмите, чтобы добавить изображение</a:t>
            </a:r>
            <a:endParaRPr lang="ru-RU"/>
          </a:p>
        </p:txBody>
      </p:sp>
      <p:sp>
        <p:nvSpPr>
          <p:cNvPr id="992050502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02367344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601866165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55169054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55793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2032837501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783123461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33933124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5418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4669114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431748838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638227643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31889840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2394242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430766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1613870534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10320273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30.10.2013</a:t>
            </a:fld>
            <a:endParaRPr lang="ru-RU"/>
          </a:p>
        </p:txBody>
      </p:sp>
      <p:sp>
        <p:nvSpPr>
          <p:cNvPr id="115601530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661604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media1.sv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4682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23999" y="748483"/>
            <a:ext cx="9144000" cy="568991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ru-RU" sz="20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Волгоградский Государственный Технический Университет</a:t>
            </a:r>
            <a:endParaRPr sz="20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0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Кафедра «Программное обеспечение автоматизированных систем»</a:t>
            </a:r>
            <a:endParaRPr sz="2000">
              <a:latin typeface="Consolas"/>
              <a:cs typeface="Consolas"/>
            </a:endParaRPr>
          </a:p>
        </p:txBody>
      </p:sp>
      <p:sp>
        <p:nvSpPr>
          <p:cNvPr id="1892077871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3999" y="4314187"/>
            <a:ext cx="9144000" cy="16557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algn="l">
              <a:defRPr/>
            </a:pPr>
            <a:r>
              <a:rPr lang="ru-RU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Исполнитель: студент группы ПрИн-46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7</a:t>
            </a:r>
            <a:r>
              <a:rPr lang="ru-RU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Бурденюк С.Р.</a:t>
            </a:r>
            <a:endParaRPr lang="ru-RU" sz="24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algn="l">
              <a:defRPr/>
            </a:pPr>
            <a:r>
              <a:rPr lang="ru-RU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Научный руководитель: ст.пр., Донская А.Р.</a:t>
            </a:r>
            <a:endParaRPr lang="ru-RU" sz="24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algn="l">
              <a:defRPr/>
            </a:pPr>
            <a:r>
              <a:rPr lang="ru-RU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Научный консультант: к.т.н., Зубков А.В.</a:t>
            </a:r>
            <a:endParaRPr lang="ru-RU" sz="24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291837337" name="Title 1"/>
          <p:cNvSpPr>
            <a:spLocks noGrp="1"/>
          </p:cNvSpPr>
          <p:nvPr/>
        </p:nvSpPr>
        <p:spPr bwMode="auto">
          <a:xfrm flipH="0" flipV="0">
            <a:off x="1220466" y="2556631"/>
            <a:ext cx="9943387" cy="968508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25000" lnSpcReduction="15000"/>
          </a:bodyPr>
          <a:lstStyle>
            <a:lvl1pPr algn="ctr" defTabSz="914400">
              <a:lnSpc>
                <a:spcPct val="9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130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Разработка веб-приложения для рекомендаций одежды с учётом климатических условий региона, погодных факторов и индивидуальных предпочтений пользователей</a:t>
            </a:r>
            <a:endParaRPr sz="15000" b="1"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217515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3036705" y="436339"/>
            <a:ext cx="6118589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Актуальность</a:t>
            </a:r>
            <a:endParaRPr>
              <a:latin typeface="Consolas"/>
              <a:cs typeface="Consolas"/>
            </a:endParaRPr>
          </a:p>
        </p:txBody>
      </p:sp>
      <p:sp>
        <p:nvSpPr>
          <p:cNvPr id="864013277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9925069" cy="4815169"/>
          </a:xfrm>
        </p:spPr>
        <p:txBody>
          <a:bodyPr/>
          <a:lstStyle/>
          <a:p>
            <a:pPr>
              <a:defRPr/>
            </a:pPr>
            <a:r>
              <a:rPr sz="22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22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В сфере моды и продажи одежды наблюдается увеличение объёма данных о предпочтениях пользователей и их гардеробах, что открывает возможности для применения алгоритмов обработки данных и построения рекомендательных систем. Разработка веб-приложения для подбора одежды с учетом погодных факторов решает важную практическую задачу по снижению когнитивной нагрузки при выборе гардероба и способствует более рациональному использованию имеющейся одежды, что соответствует современным трендам осознанного потребления.</a:t>
            </a:r>
            <a:endParaRPr sz="9000"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6507177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5" y="436339"/>
            <a:ext cx="9961191" cy="1325562"/>
          </a:xfrm>
        </p:spPr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Объект и предмет исследования</a:t>
            </a:r>
            <a:endParaRPr>
              <a:latin typeface="Consolas"/>
              <a:cs typeface="Consolas"/>
            </a:endParaRPr>
          </a:p>
        </p:txBody>
      </p:sp>
      <p:sp>
        <p:nvSpPr>
          <p:cNvPr id="1548406909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5000" lnSpcReduction="7000"/>
          </a:bodyPr>
          <a:lstStyle/>
          <a:p>
            <a:pPr>
              <a:defRPr/>
            </a:pPr>
            <a:r>
              <a:rPr lang="ru-RU" sz="3600" b="1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Объект исследования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: рекомендательная система с интеграцией внешних данных и анализом предпочтений человека.</a:t>
            </a:r>
            <a:endParaRPr lang="ru-RU" sz="3600" b="0" i="0" u="none" strike="noStrike" cap="none" spc="0">
              <a:solidFill>
                <a:schemeClr val="tx1"/>
              </a:solidFill>
              <a:latin typeface="Consolas"/>
              <a:ea typeface="Consolas"/>
              <a:cs typeface="Consolas"/>
            </a:endParaRPr>
          </a:p>
          <a:p>
            <a:pPr>
              <a:defRPr/>
            </a:pPr>
            <a:r>
              <a:rPr lang="ru-RU" sz="3600" b="1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Предмет исследования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: Инструменты и архитектурные решения для реализации веб-приложения-рекомендателя одежды, включая управление состоянием (гардероб), обработку внешних событий (погода) и генерацию персонализированных комбинаций.</a:t>
            </a:r>
            <a:endParaRPr lang="ru-RU" sz="3600" b="0" i="0" u="none" strike="noStrike" cap="none" spc="0">
              <a:solidFill>
                <a:schemeClr val="tx1"/>
              </a:solidFill>
              <a:latin typeface="Consolas"/>
              <a:ea typeface="Consolas"/>
              <a:cs typeface="Consolas"/>
            </a:endParaRPr>
          </a:p>
          <a:p>
            <a:pPr>
              <a:defRPr/>
            </a:pPr>
            <a:r>
              <a:rPr lang="ru-RU" sz="3600" b="1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Практическая значимость</a:t>
            </a:r>
            <a:r>
              <a:rPr lang="ru-RU" sz="36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 данной работы заключается в повышении эффективности и удобства планирования повседневного гардероба для пользователей за счет автоматизации процесса подбора одежды с учетом множества контекстных параметров.</a:t>
            </a:r>
            <a:endParaRPr lang="ru-RU" sz="2800" b="0" i="0" u="none" strike="noStrike" cap="none" spc="0">
              <a:solidFill>
                <a:schemeClr val="tx1"/>
              </a:solidFill>
              <a:latin typeface="Consolas"/>
              <a:ea typeface="Consolas"/>
              <a:cs typeface="Consolas"/>
            </a:endParaRPr>
          </a:p>
          <a:p>
            <a:pPr>
              <a:defRPr/>
            </a:pPr>
            <a:endParaRPr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endParaRPr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77801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4" y="436338"/>
            <a:ext cx="9961191" cy="1325561"/>
          </a:xfrm>
        </p:spPr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Научная новизна</a:t>
            </a:r>
            <a:endParaRPr>
              <a:latin typeface="Consolas"/>
              <a:cs typeface="Consolas"/>
            </a:endParaRPr>
          </a:p>
        </p:txBody>
      </p:sp>
      <p:sp>
        <p:nvSpPr>
          <p:cNvPr id="614251732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2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Первое веб-решение (не мобильное приложение),</a:t>
            </a:r>
            <a:r>
              <a:rPr sz="2200" b="1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полностью работающее</a:t>
            </a:r>
            <a:r>
              <a:rPr sz="22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только с личным гардеробом пользователя.</a:t>
            </a:r>
            <a:br>
              <a:rPr sz="22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</a:br>
            <a:endParaRPr sz="2200" b="0" i="0" u="none">
              <a:solidFill>
                <a:srgbClr val="000000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sz="22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Явный </a:t>
            </a:r>
            <a:r>
              <a:rPr sz="2200" b="1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учёт стиля</a:t>
            </a:r>
            <a:r>
              <a:rPr sz="22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как отдельного параметра при генерации комплектов.</a:t>
            </a:r>
            <a:endParaRPr sz="2200" b="0" i="0" u="none">
              <a:solidFill>
                <a:srgbClr val="000000"/>
              </a:solidFill>
              <a:latin typeface="Consolas"/>
              <a:cs typeface="Consolas"/>
            </a:endParaRPr>
          </a:p>
          <a:p>
            <a:pPr>
              <a:defRPr/>
            </a:pPr>
            <a:br>
              <a:rPr sz="22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</a:br>
            <a:r>
              <a:rPr sz="22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Интеграция регионального климата + текущей погоды + уровня теплоты каждой вещи.</a:t>
            </a:r>
            <a:endParaRPr sz="9000"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520580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4" y="436338"/>
            <a:ext cx="9961191" cy="1325561"/>
          </a:xfrm>
        </p:spPr>
        <p:txBody>
          <a:bodyPr/>
          <a:lstStyle/>
          <a:p>
            <a:pPr>
              <a:defRPr/>
            </a:pPr>
            <a:r>
              <a:rPr sz="4400" b="0" i="0" u="none" spc="-5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Существующая проблема в заданной предметной области </a:t>
            </a:r>
            <a:endParaRPr sz="4400">
              <a:latin typeface="Consolas"/>
              <a:cs typeface="Consolas"/>
            </a:endParaRPr>
          </a:p>
        </p:txBody>
      </p:sp>
      <p:sp>
        <p:nvSpPr>
          <p:cNvPr id="717026826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0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Пользователь не помнит весь свой гардероб.</a:t>
            </a:r>
            <a:endParaRPr sz="2000" b="0" i="0" u="none">
              <a:solidFill>
                <a:srgbClr val="000000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sz="20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Тратит время на проверку погоды и перебор вещей.</a:t>
            </a:r>
            <a:br>
              <a:rPr sz="20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</a:br>
            <a:endParaRPr sz="2000" b="0" i="0" u="none">
              <a:solidFill>
                <a:srgbClr val="000000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sz="20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Часто выбирает несоответствующий стиль или уровень теплоты.</a:t>
            </a:r>
            <a:endParaRPr sz="2000" b="0" i="0" u="none">
              <a:solidFill>
                <a:srgbClr val="000000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sz="2000" b="0" i="0" u="none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Нет инструмента, который гарантированно подберёт комплект только из своих вещей</a:t>
            </a:r>
            <a:r>
              <a:rPr sz="2000">
                <a:latin typeface="Consolas"/>
                <a:ea typeface="Consolas"/>
                <a:cs typeface="Consolas"/>
              </a:rPr>
              <a:t>.</a:t>
            </a:r>
            <a:endParaRPr sz="8000"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022798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5" y="436339"/>
            <a:ext cx="9961191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Цели и задачи</a:t>
            </a:r>
            <a:endParaRPr>
              <a:latin typeface="Consolas"/>
              <a:cs typeface="Consolas"/>
            </a:endParaRPr>
          </a:p>
        </p:txBody>
      </p:sp>
      <p:sp>
        <p:nvSpPr>
          <p:cNvPr id="138914335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543925" y="1575630"/>
            <a:ext cx="11189649" cy="49049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16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Целью разработки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является создание программного инструмента для персонализации рекомендаций по подбору гардероба с учетом комплексных параметров — текущих погодных условий,  индивидуальных предпочтений пользователя в стиле и состава его виртуального гардероба.</a:t>
            </a:r>
            <a:endParaRPr sz="4800">
              <a:latin typeface="Consolas"/>
              <a:cs typeface="Consolas"/>
            </a:endParaRPr>
          </a:p>
          <a:p>
            <a:pPr marL="0" indent="0">
              <a:buFont typeface="Arial"/>
              <a:buNone/>
              <a:defRPr/>
            </a:pPr>
            <a:r>
              <a:rPr sz="16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Для достижения поставленной цели были выделены следующие задачи:</a:t>
            </a:r>
            <a:endParaRPr sz="4800">
              <a:latin typeface="Consolas"/>
              <a:cs typeface="Consolas"/>
            </a:endParaRPr>
          </a:p>
          <a:p>
            <a:pPr>
              <a:defRPr/>
            </a:pPr>
            <a:r>
              <a:rPr sz="16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Провести анализ предметной области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— исследовать существующие системы рекомендаций одежды, методы формализации правил сочетаемости, подходы к учету погодных факторов и стилевых предпочтений</a:t>
            </a:r>
            <a:endParaRPr sz="4800">
              <a:latin typeface="Consolas"/>
              <a:cs typeface="Consolas"/>
            </a:endParaRPr>
          </a:p>
          <a:p>
            <a:pPr>
              <a:defRPr/>
            </a:pPr>
            <a:r>
              <a:rPr sz="16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Спроектировать и реализовать архитектуру веб-приложения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на основе фреймворка Spring Boot с использованием шаблона MVC и реляционной базы данных</a:t>
            </a:r>
            <a:endParaRPr sz="4800">
              <a:latin typeface="Consolas"/>
              <a:cs typeface="Consolas"/>
            </a:endParaRPr>
          </a:p>
          <a:p>
            <a:pPr>
              <a:defRPr/>
            </a:pPr>
            <a:r>
              <a:rPr sz="16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Разработать алгоритм рекомендательной системы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, включающий модули фильтрации гардероба по погодным условиям, сборки комплектов одежды и их ранжирования по соответствию пользовательским предпочтениям</a:t>
            </a:r>
            <a:endParaRPr sz="4800">
              <a:latin typeface="Consolas"/>
              <a:cs typeface="Consolas"/>
            </a:endParaRPr>
          </a:p>
          <a:p>
            <a:pPr>
              <a:defRPr/>
            </a:pPr>
            <a:r>
              <a:rPr sz="16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Реализовать интеграцию с внешними сервисами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— погодными API для получения актуальных метеорологических данных по местоположению пользователя</a:t>
            </a:r>
            <a:endParaRPr sz="4800">
              <a:latin typeface="Consolas"/>
              <a:cs typeface="Consolas"/>
            </a:endParaRPr>
          </a:p>
          <a:p>
            <a:pPr>
              <a:defRPr/>
            </a:pPr>
            <a:r>
              <a:rPr sz="16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Обеспечить безопасность и надежность системы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— реализовать механизмы аутентификации и авторизации, защиту от распространенных веб-уязвимостей</a:t>
            </a:r>
            <a:endParaRPr sz="4800">
              <a:latin typeface="Consolas"/>
              <a:cs typeface="Consolas"/>
            </a:endParaRPr>
          </a:p>
          <a:p>
            <a:pPr>
              <a:defRPr/>
            </a:pPr>
            <a:r>
              <a:rPr sz="1600" b="1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Разработать пользовательский интерфейс</a:t>
            </a:r>
            <a:r>
              <a:rPr sz="1600" b="0" i="0" u="none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, обеспечивающий интуитивное взаимодействие с системой</a:t>
            </a:r>
            <a:endParaRPr sz="1600" b="0" i="0" u="none">
              <a:solidFill>
                <a:srgbClr val="0F1115"/>
              </a:solidFill>
              <a:latin typeface="Consolas"/>
              <a:ea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385215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4" y="436338"/>
            <a:ext cx="9961191" cy="1325561"/>
          </a:xfrm>
        </p:spPr>
        <p:txBody>
          <a:bodyPr/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Анализ предметной области</a:t>
            </a:r>
            <a:endParaRPr>
              <a:latin typeface="Consolas"/>
              <a:cs typeface="Consolas"/>
            </a:endParaRPr>
          </a:p>
        </p:txBody>
      </p:sp>
      <p:sp>
        <p:nvSpPr>
          <p:cNvPr id="84706243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543924" y="1575630"/>
            <a:ext cx="11189648" cy="490492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000" b="0" i="0" u="none" strike="noStrike" cap="none" spc="0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Системы рекомендаций одежды</a:t>
            </a:r>
            <a:endParaRPr sz="2000" b="0" i="0" u="none" strike="noStrike" cap="none" spc="0">
              <a:solidFill>
                <a:srgbClr val="0F1115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000" b="0" i="0" u="none" strike="noStrike" cap="none" spc="0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Погодные API (</a:t>
            </a:r>
            <a:r>
              <a:rPr lang="en-US" sz="2000" b="0" i="0" u="none" strike="noStrike" cap="none" spc="0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WeatherAPI</a:t>
            </a:r>
            <a:r>
              <a:rPr lang="ru-RU" sz="2000" b="0" i="0" u="none" strike="noStrike" cap="none" spc="0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)</a:t>
            </a:r>
            <a:endParaRPr sz="2000" b="0" i="0" u="none" strike="noStrike" cap="none" spc="0">
              <a:solidFill>
                <a:srgbClr val="0F1115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000" b="0" i="0" u="none" strike="noStrike" cap="none" spc="0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Управление гардеробом (CRUD + фильтры)</a:t>
            </a:r>
            <a:endParaRPr sz="2000" b="0" i="0" u="none" strike="noStrike" cap="none" spc="0">
              <a:solidFill>
                <a:srgbClr val="0F1115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000" b="0" i="0" u="none" strike="noStrike" cap="none" spc="0">
                <a:solidFill>
                  <a:srgbClr val="0F1115"/>
                </a:solidFill>
                <a:latin typeface="Consolas"/>
                <a:ea typeface="Consolas"/>
                <a:cs typeface="Consolas"/>
              </a:rPr>
              <a:t>Архитектура: MVC, ORM, REST</a:t>
            </a:r>
            <a:endParaRPr sz="1600" b="0" i="0" u="none">
              <a:solidFill>
                <a:srgbClr val="0F1115"/>
              </a:solidFill>
              <a:latin typeface="Consolas"/>
              <a:ea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952970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4409095" y="436339"/>
            <a:ext cx="3373808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Аналоги</a:t>
            </a:r>
            <a:endParaRPr>
              <a:latin typeface="Consolas"/>
              <a:cs typeface="Consolas"/>
            </a:endParaRPr>
          </a:p>
        </p:txBody>
      </p:sp>
      <p:sp>
        <p:nvSpPr>
          <p:cNvPr id="1469075348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  <p:graphicFrame>
        <p:nvGraphicFramePr>
          <p:cNvPr id="508406015" name=""/>
          <p:cNvGraphicFramePr>
            <a:graphicFrameLocks xmlns:a="http://schemas.openxmlformats.org/drawingml/2006/main"/>
          </p:cNvGraphicFramePr>
          <p:nvPr/>
        </p:nvGraphicFramePr>
        <p:xfrm rot="0">
          <a:off x="838198" y="1825624"/>
          <a:ext cx="5864224" cy="27482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119864"/>
                <a:gridCol w="1134319"/>
                <a:gridCol w="1997803"/>
                <a:gridCol w="2048011"/>
                <a:gridCol w="1135070"/>
                <a:gridCol w="1417649"/>
                <a:gridCol w="1743881"/>
              </a:tblGrid>
              <a:tr h="485006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Приложение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Платформа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Личный гардероб (загрузка фото)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Учёт погоды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Учёт стиля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Рекомендации ТОЛЬКО из своих вещей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Основные недостатки</a:t>
                      </a:r>
                      <a:endParaRPr/>
                    </a:p>
                  </a:txBody>
                  <a:tcPr marL="9524" marR="9524" marT="9524" marB="9524" anchor="ctr"/>
                </a:tc>
              </a:tr>
              <a:tr h="723186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Weather Fit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iOS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Нет (готовые образы)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Частично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Нет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Не использует свои вещи</a:t>
                      </a:r>
                      <a:endParaRPr/>
                    </a:p>
                  </a:txBody>
                  <a:tcPr marL="9524" marR="9524" marT="9524" marB="9524" anchor="ctr"/>
                </a:tc>
              </a:tr>
              <a:tr h="665997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Acloset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iOS+Android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Да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Слабый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Да, но AI часто ошибается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Повторяющиеся сочетания, платный полный доступ</a:t>
                      </a:r>
                      <a:endParaRPr/>
                    </a:p>
                  </a:txBody>
                  <a:tcPr marL="9524" marR="9524" marT="9524" marB="9524" anchor="ctr"/>
                </a:tc>
              </a:tr>
              <a:tr h="665997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Cladwell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Web+App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Да (капсульный)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Частично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Ограничения бесплатной версии, слабый AI</a:t>
                      </a:r>
                      <a:endParaRPr/>
                    </a:p>
                  </a:txBody>
                  <a:tcPr marL="9524" marR="9524" marT="9524" marB="9524" anchor="ctr"/>
                </a:tc>
              </a:tr>
              <a:tr h="665997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Whering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iOS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Да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Да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Нет погоды, устаревший дизайн</a:t>
                      </a:r>
                      <a:endParaRPr/>
                    </a:p>
                  </a:txBody>
                  <a:tcPr marL="9524" marR="9524" marT="9524" marB="9524" anchor="ctr"/>
                </a:tc>
              </a:tr>
              <a:tr h="665997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Weather Outfit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Android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Редактирование дефолтных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-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Нет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Не персонализирован</a:t>
                      </a:r>
                      <a:endParaRPr/>
                    </a:p>
                  </a:txBody>
                  <a:tcPr marL="9524" marR="9524" marT="9524" marB="9524" anchor="ctr"/>
                </a:tc>
              </a:tr>
              <a:tr h="665997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WearToWeather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Web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Нет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/>
                    </a:p>
                  </a:txBody>
                  <a:tcPr vert="horz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Нет</a:t>
                      </a:r>
                      <a:endParaRPr/>
                    </a:p>
                  </a:txBody>
                  <a:tcPr marL="9524" marR="9524" marT="9524" marB="9524"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Только вдохновение, не реальный гардероб</a:t>
                      </a:r>
                      <a:endParaRPr/>
                    </a:p>
                  </a:txBody>
                  <a:tcPr marL="9524" marR="9524" marT="9524" marB="9524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5224830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2858386" y="436338"/>
            <a:ext cx="5619749" cy="1325561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Анализ аналогов</a:t>
            </a:r>
            <a:endParaRPr>
              <a:latin typeface="Consolas"/>
              <a:cs typeface="Consolas"/>
            </a:endParaRPr>
          </a:p>
        </p:txBody>
      </p:sp>
      <p:sp>
        <p:nvSpPr>
          <p:cNvPr id="1364821227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Вывод:</a:t>
            </a:r>
            <a:endParaRPr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Все существующие решения либо не используют личный гардероб, либо не учитывают стиль, либо являются мобильными приложениями. Отсутствует полноценное веб-решение с жёстким ограничением «только свои вещи» — именно эту нишу закрывает разрабатываемое приложение.</a:t>
            </a:r>
            <a:endParaRPr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325134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69022" y="436338"/>
            <a:ext cx="8650431" cy="132556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Процесс решения существующей задачи (AS-IS</a:t>
            </a:r>
            <a:r>
              <a:rPr>
                <a:latin typeface="Consolas"/>
                <a:cs typeface="Consolas"/>
              </a:rPr>
              <a:t>)</a:t>
            </a:r>
            <a:endParaRPr>
              <a:latin typeface="Consolas"/>
              <a:cs typeface="Consolas"/>
            </a:endParaRPr>
          </a:p>
        </p:txBody>
      </p:sp>
      <p:sp>
        <p:nvSpPr>
          <p:cNvPr id="1269234914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AS-IS (существующий процесс):</a:t>
            </a:r>
            <a:endParaRPr lang="ru-RU"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Пользователь → смотрит прогноз погоды → вспоминает, что есть в шкафу → перебирает вещи → пытается сочетать по стилю → часто ошибается → тратит 15–20 мин ежедневно.</a:t>
            </a:r>
            <a:endParaRPr lang="ru-RU"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1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Проблемы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: нет системности, забывчивость, несоответствие стилю.</a:t>
            </a:r>
            <a:endParaRPr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409509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780204" y="436338"/>
            <a:ext cx="10815204" cy="132556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ru-RU" sz="44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Как будет решаться задача (TO-BE)</a:t>
            </a:r>
            <a:endParaRPr>
              <a:latin typeface="Consolas"/>
              <a:cs typeface="Consolas"/>
            </a:endParaRPr>
          </a:p>
        </p:txBody>
      </p:sp>
      <p:sp>
        <p:nvSpPr>
          <p:cNvPr id="74540501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Пользователь добавляет вещи один раз → выбирает стиль → нажимает «Генерировать образ» → система:</a:t>
            </a:r>
            <a:endParaRPr/>
          </a:p>
          <a:p>
            <a:pPr marL="0" indent="0">
              <a:buFont typeface="Arial"/>
              <a:buNone/>
              <a:defRPr/>
            </a:pPr>
            <a:endParaRPr lang="ru-RU"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Получает погоду по геолокации</a:t>
            </a:r>
            <a:endParaRPr lang="ru-RU"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Фильтрует гардероб по теплоте + осадкам + ветру</a:t>
            </a:r>
            <a:endParaRPr lang="ru-RU"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Учитывает выбранный стиль</a:t>
            </a:r>
            <a:endParaRPr lang="ru-RU"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Выдаёт 3–5 готовых комплектов с фото</a:t>
            </a:r>
            <a:endParaRPr lang="ru-RU"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endParaRPr lang="ru-RU"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 marL="0" indent="0">
              <a:buFont typeface="Arial"/>
              <a:buNone/>
              <a:defRPr/>
            </a:pPr>
            <a:r>
              <a:rPr lang="ru-RU" sz="2800" b="1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Преимущества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: время сокращается до 10 секунд, точность 90+ %, используется только свой гардероб.</a:t>
            </a:r>
            <a:endParaRPr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7189622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5" y="436339"/>
            <a:ext cx="9961191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Программные средства</a:t>
            </a:r>
            <a:endParaRPr>
              <a:latin typeface="Consolas"/>
              <a:cs typeface="Consolas"/>
            </a:endParaRPr>
          </a:p>
        </p:txBody>
      </p:sp>
      <p:sp>
        <p:nvSpPr>
          <p:cNvPr id="781998734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838197" y="1825623"/>
            <a:ext cx="5007574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Для обработки данных: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PostgreSQL</a:t>
            </a:r>
            <a:endParaRPr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Для разработки веб-приложения: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Java Spring,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HTML, CSS, React, Java Script</a:t>
            </a:r>
            <a:endParaRPr lang="en-US" sz="2800" b="0" i="0" u="none" strike="noStrike" cap="none" spc="0">
              <a:solidFill>
                <a:schemeClr val="tx1"/>
              </a:solidFill>
              <a:latin typeface="Consolas"/>
              <a:ea typeface="Consolas"/>
              <a:cs typeface="Consolas"/>
            </a:endParaRPr>
          </a:p>
          <a:p>
            <a:pPr>
              <a:defRPr/>
            </a:pP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Система контроля версий: Git</a:t>
            </a:r>
            <a:endParaRPr>
              <a:latin typeface="Consolas"/>
              <a:cs typeface="Consolas"/>
            </a:endParaRPr>
          </a:p>
        </p:txBody>
      </p:sp>
      <p:pic>
        <p:nvPicPr>
          <p:cNvPr id="1937531423" name="Рисунок 3" descr="Java — Википедия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262457" y="344185"/>
            <a:ext cx="1280916" cy="2348345"/>
          </a:xfrm>
          <a:prstGeom prst="rect">
            <a:avLst/>
          </a:prstGeom>
        </p:spPr>
      </p:pic>
      <p:pic>
        <p:nvPicPr>
          <p:cNvPr id="1139993922" name="Рисунок 4" descr="Файл:Spring Framework Logo 2018.svg — Википедия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794262" y="2936162"/>
            <a:ext cx="4143970" cy="1065129"/>
          </a:xfrm>
          <a:prstGeom prst="rect">
            <a:avLst/>
          </a:prstGeom>
        </p:spPr>
      </p:pic>
      <p:pic>
        <p:nvPicPr>
          <p:cNvPr id="991741366" name="Рисунок 5" descr="PostgreSQL — Википедия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9958141" y="3059838"/>
            <a:ext cx="2062728" cy="2127188"/>
          </a:xfrm>
          <a:prstGeom prst="rect">
            <a:avLst/>
          </a:prstGeom>
        </p:spPr>
      </p:pic>
      <p:pic>
        <p:nvPicPr>
          <p:cNvPr id="1912991812" name="Рисунок 6" descr="React Native — Википедия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866247" y="956506"/>
            <a:ext cx="2091893" cy="1861458"/>
          </a:xfrm>
          <a:prstGeom prst="rect">
            <a:avLst/>
          </a:prstGeom>
        </p:spPr>
      </p:pic>
      <p:pic>
        <p:nvPicPr>
          <p:cNvPr id="814474353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959815" y="4961658"/>
            <a:ext cx="1943100" cy="1828800"/>
          </a:xfrm>
          <a:prstGeom prst="rect">
            <a:avLst/>
          </a:prstGeom>
        </p:spPr>
      </p:pic>
      <p:pic>
        <p:nvPicPr>
          <p:cNvPr id="604012158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6702136" y="4115464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2997277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5" y="436339"/>
            <a:ext cx="9961191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Функциональные требования</a:t>
            </a:r>
            <a:endParaRPr>
              <a:latin typeface="Consolas"/>
              <a:cs typeface="Consolas"/>
            </a:endParaRPr>
          </a:p>
        </p:txBody>
      </p:sp>
      <p:sp>
        <p:nvSpPr>
          <p:cNvPr id="964063814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  <p:pic>
        <p:nvPicPr>
          <p:cNvPr id="172132333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1157242" y="1504970"/>
            <a:ext cx="8929485" cy="48756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3225923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5" y="436339"/>
            <a:ext cx="9961191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Входные/выходные данные</a:t>
            </a:r>
            <a:endParaRPr>
              <a:latin typeface="Consolas"/>
              <a:cs typeface="Consolas"/>
            </a:endParaRPr>
          </a:p>
        </p:txBody>
      </p:sp>
      <p:sp>
        <p:nvSpPr>
          <p:cNvPr id="569580153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800" b="1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Вход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: фото вещи, тип, стиль, уровень теплоты, геолокация, выбранный стиль</a:t>
            </a:r>
            <a:endParaRPr sz="2800" b="0" i="0" u="none" strike="noStrike" cap="none" spc="0">
              <a:solidFill>
                <a:schemeClr val="tx1"/>
              </a:solidFill>
              <a:latin typeface="Consolas"/>
              <a:cs typeface="Consolas"/>
            </a:endParaRPr>
          </a:p>
          <a:p>
            <a:pPr>
              <a:defRPr/>
            </a:pPr>
            <a:r>
              <a:rPr lang="ru-RU" sz="2800" b="1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Выход</a:t>
            </a:r>
            <a:r>
              <a:rPr lang="ru-RU" sz="2800" b="0" i="0" u="none" strike="noStrike" cap="none" spc="0">
                <a:solidFill>
                  <a:schemeClr val="tx1"/>
                </a:solidFill>
                <a:latin typeface="Consolas"/>
                <a:ea typeface="Consolas"/>
                <a:cs typeface="Consolas"/>
              </a:rPr>
              <a:t>: 3–5 карточек комплектов с фото + названиями вещей</a:t>
            </a:r>
            <a:endParaRPr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556610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5" y="436339"/>
            <a:ext cx="9961191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Структура программы</a:t>
            </a:r>
            <a:r>
              <a:rPr>
                <a:latin typeface="Consolas"/>
                <a:cs typeface="Consolas"/>
              </a:rPr>
              <a:t> на уровне классов</a:t>
            </a:r>
            <a:endParaRPr>
              <a:latin typeface="Consolas"/>
              <a:cs typeface="Consolas"/>
            </a:endParaRPr>
          </a:p>
        </p:txBody>
      </p:sp>
      <p:sp>
        <p:nvSpPr>
          <p:cNvPr id="146965973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973650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5" y="436339"/>
            <a:ext cx="9961191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Структура базы данных</a:t>
            </a:r>
            <a:endParaRPr>
              <a:latin typeface="Consolas"/>
              <a:cs typeface="Consolas"/>
            </a:endParaRPr>
          </a:p>
        </p:txBody>
      </p:sp>
      <p:sp>
        <p:nvSpPr>
          <p:cNvPr id="72757536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018856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4" y="436338"/>
            <a:ext cx="9961191" cy="1325561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Пример работы системы</a:t>
            </a:r>
            <a:endParaRPr>
              <a:latin typeface="Consolas"/>
              <a:cs typeface="Consolas"/>
            </a:endParaRPr>
          </a:p>
        </p:txBody>
      </p:sp>
      <p:sp>
        <p:nvSpPr>
          <p:cNvPr id="182023299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3434778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4" y="436338"/>
            <a:ext cx="9961191" cy="1325561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Тестирование системы</a:t>
            </a:r>
            <a:endParaRPr>
              <a:latin typeface="Consolas"/>
              <a:cs typeface="Consolas"/>
            </a:endParaRPr>
          </a:p>
        </p:txBody>
      </p:sp>
      <p:sp>
        <p:nvSpPr>
          <p:cNvPr id="767137576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835210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1309485" y="436339"/>
            <a:ext cx="9961191" cy="1325562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Выводы</a:t>
            </a:r>
            <a:endParaRPr>
              <a:latin typeface="Consolas"/>
              <a:cs typeface="Consolas"/>
            </a:endParaRPr>
          </a:p>
        </p:txBody>
      </p:sp>
      <p:sp>
        <p:nvSpPr>
          <p:cNvPr id="361153576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083598" name="Заголовок 1"/>
          <p:cNvSpPr>
            <a:spLocks noGrp="1"/>
          </p:cNvSpPr>
          <p:nvPr>
            <p:ph type="title"/>
          </p:nvPr>
        </p:nvSpPr>
        <p:spPr bwMode="auto">
          <a:xfrm flipH="0" flipV="0">
            <a:off x="3257780" y="2766218"/>
            <a:ext cx="9961191" cy="1325561"/>
          </a:xfrm>
        </p:spPr>
        <p:txBody>
          <a:bodyPr/>
          <a:lstStyle/>
          <a:p>
            <a:pPr>
              <a:defRPr/>
            </a:pPr>
            <a:r>
              <a:rPr>
                <a:latin typeface="Consolas"/>
                <a:ea typeface="Consolas"/>
                <a:cs typeface="Consolas"/>
              </a:rPr>
              <a:t>Спасибо за внимание!</a:t>
            </a:r>
            <a:endParaRPr>
              <a:latin typeface="Consolas"/>
              <a:cs typeface="Consola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ONLYOFFICE/9.2.0.100</Application>
  <PresentationFormat>On-screen Show (4:3)</PresentationFormat>
  <Paragraphs>0</Paragraphs>
  <Slides>20</Slides>
  <Notes>20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2026-03-23T15:30:08Z</dcterms:modified>
</cp:coreProperties>
</file>